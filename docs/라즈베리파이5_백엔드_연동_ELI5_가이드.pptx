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411480"/>
          </a:xfrm>
          <a:prstGeom prst="roundRect">
            <a:avLst/>
          </a:prstGeom>
          <a:solidFill>
            <a:srgbClr val="EBF5FF"/>
          </a:solidFill>
          <a:ln>
            <a:solidFill>
              <a:srgbClr val="006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ANTHROPIC ELI5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algun Gothic"/>
              </a:defRPr>
            </a:pPr>
            <a:r>
              <a:t>라즈베리파이 5 담당자를 위한 첫걸음</a:t>
            </a:r>
          </a:p>
          <a:p>
            <a:pPr>
              <a:defRPr sz="3200" b="1">
                <a:solidFill>
                  <a:srgbClr val="0064E0"/>
                </a:solidFill>
                <a:latin typeface="Malgun Gothic"/>
              </a:defRPr>
            </a:pPr>
            <a:r>
              <a:t>"부품 없이 백엔드 통신부터 100% 끝내기!"</a:t>
            </a:r>
          </a:p>
          <a:p>
            <a:pPr>
              <a:defRPr sz="1500">
                <a:solidFill>
                  <a:srgbClr val="475569"/>
                </a:solidFill>
                <a:latin typeface="Malgun Gothic"/>
              </a:defRPr>
            </a:pPr>
            <a:r>
              <a:t>코딩과 라즈베리파이가 처음이어도 괜찮습니다. 복잡한 전선 연결 없이 화면 출력(print)만으로 시작합니다.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328416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1. 하드웨어 배선 제로</a:t>
            </a:r>
          </a:p>
          <a:p>
            <a:pPr>
              <a:defRPr sz="1250">
                <a:solidFill>
                  <a:srgbClr val="475569"/>
                </a:solidFill>
                <a:latin typeface="Malgun Gothic"/>
              </a:defRPr>
            </a:pPr>
            <a:r>
              <a:t>전선 쇼트나 핀 파손 걱정 NO!</a:t>
            </a:r>
            <a:br/>
            <a:r>
              <a:t>오직 파이썬 화면에 찍히는 글자(print)로 1차 성공을 확인합니다.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114800"/>
            <a:ext cx="3328416" cy="2103120"/>
          </a:xfrm>
          <a:prstGeom prst="roundRect">
            <a:avLst/>
          </a:prstGeom>
          <a:solidFill>
            <a:srgbClr val="EBF5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2. 직관적인 우체통 비유</a:t>
            </a:r>
          </a:p>
          <a:p>
            <a:pPr>
              <a:defRPr sz="1250">
                <a:solidFill>
                  <a:srgbClr val="475569"/>
                </a:solidFill>
                <a:latin typeface="Malgun Gothic"/>
              </a:defRPr>
            </a:pPr>
            <a:r>
              <a:t>5세 아이도 이해하는 식당과 우체통 비유로</a:t>
            </a:r>
            <a:br/>
            <a:r>
              <a:t>REST API(GET/POST) 통신 원리를 마스터합니다.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114800"/>
            <a:ext cx="3328416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3. 1분 즉석 검증</a:t>
            </a:r>
          </a:p>
          <a:p>
            <a:pPr>
              <a:defRPr sz="1250">
                <a:solidFill>
                  <a:srgbClr val="475569"/>
                </a:solidFill>
                <a:latin typeface="Malgun Gothic"/>
              </a:defRPr>
            </a:pPr>
            <a:r>
              <a:t>준비된 test_connection.py 단 한 줄로</a:t>
            </a:r>
            <a:br/>
            <a:r>
              <a:t>백엔드 ↔ 파이 간 정상 통신을 즉시 증명합니다.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2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ELI5 BIG PICTURE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우리는 무엇을 만드나요? (식당과 서빙 로봇의 대화)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백엔드와 라즈베리파이는 '주방 게시판'과 '서빙 로봇'의 관계와 똑같습니다.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800" b="1">
                <a:solidFill>
                  <a:srgbClr val="0064E0"/>
                </a:solidFill>
                <a:latin typeface="Malgun Gothic"/>
              </a:defRPr>
            </a:pPr>
            <a:r>
              <a:t>🏛️ 백엔드 (중앙 우체국 &amp; 식당 주방)</a:t>
            </a:r>
          </a:p>
          <a:p>
            <a:br/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• 알람 시간 계산, 기상 미션 판정, 2차 수면 확인을 총괄하는 두뇌입니다.</a:t>
            </a:r>
            <a:br/>
            <a:r>
              <a:t>• DB(주문판)에 '지금 buzzer_1 알람 켜라!'라고 쪽지를 적어둡니다.</a:t>
            </a:r>
            <a:br/>
            <a:r>
              <a:t>• 파이가 보내온 상태 보고를 받아 프론트엔드 대시보드로 전달합니다.</a:t>
            </a:r>
          </a:p>
          <a:p>
            <a:br/>
            <a:pPr>
              <a:defRPr sz="1350" b="1">
                <a:solidFill>
                  <a:srgbClr val="0064E0"/>
                </a:solidFill>
                <a:latin typeface="Malgun Gothic"/>
              </a:defRPr>
            </a:pPr>
            <a:r>
              <a:t>💡 [ELI5 비유]: "엄마가 식탁 위에 써둔 오늘의 심부름 메모장"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800" b="1">
                <a:solidFill>
                  <a:srgbClr val="059669"/>
                </a:solidFill>
                <a:latin typeface="Malgun Gothic"/>
              </a:defRPr>
            </a:pPr>
            <a:r>
              <a:t>🤖 라즈베리파이 5 (발 빠른 심부름꾼)</a:t>
            </a:r>
          </a:p>
          <a:p>
            <a:br/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• 1초마다 우체국(백엔드)으로 달려가 새 쪽지가 있는지 확인합니다.</a:t>
            </a:r>
            <a:br/>
            <a:r>
              <a:t>• '알람 울려(ringing)' 쪽지를 발견하면 방 안에서 소리를 냅니다.</a:t>
            </a:r>
            <a:br/>
            <a:r>
              <a:t>• '터치패드가 눌렸다'는 센서 신호가 들어오면 즉시 우체국에 보고합니다.</a:t>
            </a:r>
          </a:p>
          <a:p>
            <a:br/>
            <a:pPr>
              <a:defRPr sz="1350" b="1">
                <a:solidFill>
                  <a:srgbClr val="059669"/>
                </a:solidFill>
                <a:latin typeface="Malgun Gothic"/>
              </a:defRPr>
            </a:pPr>
            <a:r>
              <a:t>💡 [ELI5 비유]: "1초마다 식탁 쪽지를 확인하고 심부름을 해내는 착한 아이"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3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CORE CONTRACT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둘만의 비밀 통신 규칙 3가지 (부록 A 계약)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백엔드 친구와 라즈베리파이 담당자는 딱 이 3가지만 맞추면 서로 내부 코드를 몰라도 통신됩니다.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6984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064E0"/>
                </a:solidFill>
                <a:latin typeface="Malgun Gothic"/>
              </a:defRPr>
            </a:pPr>
            <a:r>
              <a:t>1. 친구네 집 주소 (BACKEND_URL)  ➡️  http://192.168.0.xxx:8000</a:t>
            </a:r>
          </a:p>
          <a:p>
            <a:pPr>
              <a:defRPr sz="1200">
                <a:solidFill>
                  <a:srgbClr val="475569"/>
                </a:solidFill>
                <a:latin typeface="Malgun Gothic"/>
              </a:defRPr>
            </a:pPr>
            <a:r>
              <a:t>"친구네 집 문패 번호예요. localhost라고 쓰면 나 자신을 가리키므로, 반드시 백엔드가 켜진 친구 PC의 실제 Wi-Fi IP를 적어야 해요!"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6984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064E0"/>
                </a:solidFill>
                <a:latin typeface="Malgun Gothic"/>
              </a:defRPr>
            </a:pPr>
            <a:r>
              <a:t>2. 비밀 암호 도장 (DEVICE_API_KEY)  ➡️  우리팀이_정한_비밀키</a:t>
            </a:r>
          </a:p>
          <a:p>
            <a:pPr>
              <a:defRPr sz="1200">
                <a:solidFill>
                  <a:srgbClr val="475569"/>
                </a:solidFill>
                <a:latin typeface="Malgun Gothic"/>
              </a:defRPr>
            </a:pPr>
            <a:r>
              <a:t>"낯선 사람이 장난치지 못하도록, 쪽지 봉투 헤더(Header)에 찍는 우리 팀만의 특수 암호 스탬프예요. 철자가 1개만 틀려도 거절당해요!"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064E0"/>
                </a:solidFill>
                <a:latin typeface="Malgun Gothic"/>
              </a:defRPr>
            </a:pPr>
            <a:r>
              <a:t>3. 쪽지함 이름표 (device_id)  ➡️  buzzer_1 (부저) / touch_pad_1 (터치)</a:t>
            </a:r>
          </a:p>
          <a:p>
            <a:pPr>
              <a:defRPr sz="1200">
                <a:solidFill>
                  <a:srgbClr val="475569"/>
                </a:solidFill>
                <a:latin typeface="Malgun Gothic"/>
              </a:defRPr>
            </a:pPr>
            <a:r>
              <a:t>"우체통 안의 칸막이 이름표예요. 백엔드 DB와 파이 코드가 똑같이 buzzer_1이라고 불러야 올바른 쪽지를 꺼내올 수 있어요!"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4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STEP 1: POLLING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우체통 열어보기 (GET desired-state)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라즈베리파이는 1초마다 백엔드에게 '저 지금 뭐 해야 하나요?'라고 물어봅니다.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064E0"/>
                </a:solidFill>
                <a:latin typeface="Malgun Gothic"/>
              </a:defRPr>
            </a:pPr>
            <a:r>
              <a:t>📬 물어보는 쪽지 (GET 요청)</a:t>
            </a:r>
          </a:p>
          <a:p>
            <a:br/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[주소]</a:t>
            </a:r>
            <a:br/>
            <a:r>
              <a:t>GET /api/v1/devices/buzzer_1/desired-state</a:t>
            </a:r>
            <a:br/>
            <a:br/>
            <a:r>
              <a:t>[헤더 (비밀도장)]</a:t>
            </a:r>
            <a:br/>
            <a:r>
              <a:t>X-Device-Api-Key: 우리팀이_정한_비밀키</a:t>
            </a:r>
          </a:p>
          <a:p>
            <a:br/>
            <a:pPr>
              <a:defRPr sz="1250" b="1">
                <a:solidFill>
                  <a:srgbClr val="0064E0"/>
                </a:solidFill>
                <a:latin typeface="Malgun Gothic"/>
              </a:defRPr>
            </a:pPr>
            <a:r>
              <a:t>💡 [ELI5]: "우체국장님! buzzer_1 칸에 새 편지 들어온 것 있나요?"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59669"/>
                </a:solidFill>
                <a:latin typeface="Malgun Gothic"/>
              </a:defRPr>
            </a:pPr>
            <a:r>
              <a:t>✉️ 돌아오는 답장 (JSON 응답: 200 OK)</a:t>
            </a:r>
          </a:p>
          <a:p>
            <a:br/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{</a:t>
            </a:r>
            <a:br/>
            <a:r>
              <a:t>  "success": true,</a:t>
            </a:r>
            <a:br/>
            <a:r>
              <a:t>  "data": {</a:t>
            </a:r>
            <a:br/>
            <a:r>
              <a:t>    "device_id": "buzzer_1",</a:t>
            </a:r>
            <a:br/>
            <a:r>
              <a:t>    "desired_state": "ringing",</a:t>
            </a:r>
            <a:br/>
            <a:r>
              <a:t>    "value": {"sound": "beep"}</a:t>
            </a:r>
            <a:br/>
            <a:r>
              <a:t>  }</a:t>
            </a:r>
            <a:br/>
            <a:r>
              <a:t>}</a:t>
            </a:r>
          </a:p>
          <a:p>
            <a:br/>
            <a:pPr>
              <a:defRPr sz="1250" b="1">
                <a:solidFill>
                  <a:srgbClr val="059669"/>
                </a:solidFill>
                <a:latin typeface="Malgun Gothic"/>
              </a:defRPr>
            </a:pPr>
            <a:r>
              <a:t>💡 [ELI5]: "응! 여기 desired_state가 ringing이라고 적혀있지? 지금 당장 시끄럽게 울려!"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5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STEP 2: REPORTING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심부름 끝났다고 보고하기 (POST state)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알람을 켰으면, 백엔드에게 '지시하신 대로 소리 울리기 시작했습니다!'라고 알려줍니다.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064E0"/>
                </a:solidFill>
                <a:latin typeface="Malgun Gothic"/>
              </a:defRPr>
            </a:pPr>
            <a:r>
              <a:t>📤 완료 보고서 발송 (POST 요청)</a:t>
            </a:r>
          </a:p>
          <a:p>
            <a:br/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[주소]</a:t>
            </a:r>
            <a:br/>
            <a:r>
              <a:t>POST /api/v1/devices/buzzer_1/state</a:t>
            </a:r>
            <a:br/>
            <a:br/>
            <a:r>
              <a:t>[보낼 내용 (JSON)]</a:t>
            </a:r>
            <a:br/>
            <a:r>
              <a:t>{</a:t>
            </a:r>
            <a:br/>
            <a:r>
              <a:t>  "state": "ringing",</a:t>
            </a:r>
            <a:br/>
            <a:r>
              <a:t>  "reported_at": "2026-09-06T08:00:00Z"</a:t>
            </a:r>
            <a:br/>
            <a:r>
              <a:t>}</a:t>
            </a:r>
          </a:p>
          <a:p>
            <a:br/>
            <a:pPr>
              <a:defRPr sz="1250" b="1">
                <a:solidFill>
                  <a:srgbClr val="0064E0"/>
                </a:solidFill>
                <a:latin typeface="Malgun Gothic"/>
              </a:defRPr>
            </a:pPr>
            <a:r>
              <a:t>💡 [ELI5]: "국장님! 방금 부저 알람 실제로 켰습니다! 완료 보고합니다!"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59669"/>
                </a:solidFill>
                <a:latin typeface="Malgun Gothic"/>
              </a:defRPr>
            </a:pPr>
            <a:r>
              <a:t>🖥️ 웹 대시보드 화면에 실시간 반영!</a:t>
            </a:r>
          </a:p>
          <a:p>
            <a:br/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• 백엔드가 이 보고(POST)를 받는 즉시 WebSocket으로 프론트엔드에 뿌려줍니다.</a:t>
            </a:r>
            <a:br/>
            <a:br/>
            <a:r>
              <a:t>• 학생들의 웹 브라우저 대시보드에서 '부저 작동 중(RINGING)' 배지가 초록색으로 반짝 켜집니다!</a:t>
            </a:r>
            <a:br/>
            <a:br/>
            <a:r>
              <a:t>• 이로써 백엔드 ↔ 파이 ↔ 웹 대시보드 전체 고리가 완성됩니다.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6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PHASE 1 PHILOSOPHY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빵판은 잠시 안녕! Print문으로 먼저 성공하기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전선을 꽂기 전에 화면 글자로 먼저 성공을 맛보는 것이 숙련된 엔지니어의 원칙입니다.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11D48"/>
                </a:solidFill>
                <a:latin typeface="Malgun Gothic"/>
              </a:defRPr>
            </a:pPr>
            <a:r>
              <a:t>❌ 초보자가 자주 겪는 좌절과 실패</a:t>
            </a:r>
          </a:p>
          <a:p>
            <a:br/>
            <a:pPr>
              <a:defRPr sz="1250">
                <a:solidFill>
                  <a:srgbClr val="0F172A"/>
                </a:solidFill>
                <a:latin typeface="Malgun Gothic"/>
              </a:defRPr>
            </a:pPr>
            <a:r>
              <a:t>• 시작하자마자 40개짜리 GPIO 핀에 복잡하게 전선 꽂기</a:t>
            </a:r>
            <a:br/>
            <a:r>
              <a:t>• 5V와 GND를 반대로 꽂아 라즈베리파이 보드 태워먹기</a:t>
            </a:r>
            <a:br/>
            <a:r>
              <a:t>• 소리가 안 나는데, 코드가 문제인지 부품이 불량인지 몰라 멘붕</a:t>
            </a:r>
            <a:br/>
            <a:br/>
            <a:r>
              <a:t>⚠️ 주의: 통신이 되는지 모르는 상태에서 회로부터 연결하면 문제를 절대 못 찾습니다!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59669"/>
                </a:solidFill>
                <a:latin typeface="Malgun Gothic"/>
              </a:defRPr>
            </a:pPr>
            <a:r>
              <a:t>✅ 이번 2차 첫 단계: 100% Mock Print</a:t>
            </a:r>
          </a:p>
          <a:p>
            <a:br/>
            <a:pPr>
              <a:defRPr sz="1250">
                <a:solidFill>
                  <a:srgbClr val="0F172A"/>
                </a:solidFill>
                <a:latin typeface="Malgun Gothic"/>
              </a:defRPr>
            </a:pPr>
            <a:r>
              <a:t>• 실제 피에조 부저 대신 print("삐-삐- 알람 울림!") 글자 출력</a:t>
            </a:r>
            <a:br/>
            <a:r>
              <a:t>• 터치패드 터치 대신 키보드 엔터 입력으로 센서 보고 시뮬레이션</a:t>
            </a:r>
            <a:br/>
            <a:r>
              <a:t>• 통신이 100% 성공하면, 그때 전선 딱 2가닥만 부저에 꽂으면 끝!</a:t>
            </a:r>
            <a:br/>
            <a:br/>
            <a:r>
              <a:t>🎉 목표: 터미널 화면에 성공 로그가 뜨면 오늘 라즈베리파이 임무는 100점 만점!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7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HANDS-ON STEP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1분 만에 끝내는 첫 연결 테스트 (실습)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라즈베리파이 터미널에서 다음 딱 2줄만 입력하면 끝납니다.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69848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38BDF8"/>
                </a:solidFill>
                <a:latin typeface="Consolas"/>
              </a:defRPr>
            </a:pPr>
            <a:r>
              <a:t>$ cd pi</a:t>
            </a:r>
          </a:p>
          <a:p>
            <a:pPr>
              <a:defRPr sz="1400" b="1">
                <a:solidFill>
                  <a:srgbClr val="4ADE80"/>
                </a:solidFill>
                <a:latin typeface="Consolas"/>
              </a:defRPr>
            </a:pPr>
            <a:r>
              <a:t>$ python test_connection.py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69848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064E0"/>
                </a:solidFill>
                <a:latin typeface="Malgun Gothic"/>
              </a:defRPr>
            </a:pPr>
            <a:r>
              <a:t>🎉 화면에 이런 글자가 나오면 대성공!</a:t>
            </a:r>
          </a:p>
          <a:p>
            <a:pPr>
              <a:defRPr sz="1150">
                <a:solidFill>
                  <a:srgbClr val="0F172A"/>
                </a:solidFill>
                <a:latin typeface="Consolas"/>
              </a:defRPr>
            </a:pPr>
            <a:r>
              <a:t>🔍 1단계: 백엔드 우체국이 문을 열었는지 확인 중...</a:t>
            </a:r>
            <a:br/>
            <a:r>
              <a:t>  ✅ [성공!] 백엔드 서버와 연결되었습니다! (상태 코드: 200 OK)</a:t>
            </a:r>
            <a:br/>
            <a:r>
              <a:t>📬 2단계: 1초마다 백엔드 우체통 열어보기 시작</a:t>
            </a:r>
            <a:br/>
            <a:r>
              <a:t>🔔 [상태 변화 감지!] 부저 명령이 바뀌었습니다: off ➡️ ringing</a:t>
            </a:r>
            <a:br/>
            <a:r>
              <a:t>  🔊 [피에조 부저 흉내내기] 삐- 삐- 삐-! 알람이 시끄럽게 울리고 있습니다!</a:t>
            </a:r>
            <a:br/>
            <a:r>
              <a:t>  📤 [보고 완료] 백엔드에 '부저가 실제로 울리고 있어요'라고 보고했습니다.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8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BLAMELESS SOS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빨간 에러가 떠도 당황 금지! 3초 처방전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에러 메시지는 내 잘못이 아니라 컴퓨터가 힌트를 주는 친절한 안내문입니다.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28416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E11D48"/>
                </a:solidFill>
                <a:latin typeface="Malgun Gothic"/>
              </a:defRPr>
            </a:pPr>
            <a:r>
              <a:t>Connection Refused</a:t>
            </a:r>
          </a:p>
          <a:p>
            <a:br/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💡 [비유]: 친구가 아직 문을 안 열어줬어요.</a:t>
            </a:r>
          </a:p>
          <a:p>
            <a:br/>
            <a:pPr>
              <a:defRPr sz="1150">
                <a:solidFill>
                  <a:srgbClr val="475569"/>
                </a:solidFill>
                <a:latin typeface="Malgun Gothic"/>
              </a:defRPr>
            </a:pPr>
            <a:r>
              <a:t>[3초 처방전]:</a:t>
            </a:r>
            <a:br/>
            <a:r>
              <a:t>1. 백엔드 PC에서 서버가 켜져 있나요?</a:t>
            </a:r>
            <a:br/>
            <a:r>
              <a:t>2. 파이와 백엔드 PC가 같은 Wi-Fi에 연결되어 있나요?</a:t>
            </a:r>
            <a:br/>
            <a:r>
              <a:t>3. pi/.env 파일의 IP 주소를 다시 확인하세요.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03120"/>
            <a:ext cx="3328416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404 Not Found</a:t>
            </a:r>
          </a:p>
          <a:p>
            <a:br/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💡 [비유]: 우체통에 적힌 이름표가 달라요.</a:t>
            </a:r>
          </a:p>
          <a:p>
            <a:br/>
            <a:pPr>
              <a:defRPr sz="1150">
                <a:solidFill>
                  <a:srgbClr val="475569"/>
                </a:solidFill>
                <a:latin typeface="Malgun Gothic"/>
              </a:defRPr>
            </a:pPr>
            <a:r>
              <a:t>[3초 처방전]:</a:t>
            </a:r>
            <a:br/>
            <a:r>
              <a:t>1. 백엔드 DB의 devices 테이블에 'buzzer_1'이 등록되어 있는지 백엔드 친구에게 물어보세요!</a:t>
            </a:r>
            <a:br/>
            <a:r>
              <a:t>2. 대소문자나 철자를 비교해보세요.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03120"/>
            <a:ext cx="3328416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6366F1"/>
                </a:solidFill>
                <a:latin typeface="Malgun Gothic"/>
              </a:defRPr>
            </a:pPr>
            <a:r>
              <a:t>401 / 403 Forbidden</a:t>
            </a:r>
          </a:p>
          <a:p>
            <a:br/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💡 [비유]: 비밀 암호 도장이 틀렸어요.</a:t>
            </a:r>
          </a:p>
          <a:p>
            <a:br/>
            <a:pPr>
              <a:defRPr sz="1150">
                <a:solidFill>
                  <a:srgbClr val="475569"/>
                </a:solidFill>
                <a:latin typeface="Malgun Gothic"/>
              </a:defRPr>
            </a:pPr>
            <a:r>
              <a:t>[3초 처방전]:</a:t>
            </a:r>
            <a:br/>
            <a:r>
              <a:t>1. pi/.env의 DEVICE_API_KEY와 백엔드 .env의 DEVICE_API_KEY가 완전히 똑같은지 비교하세요!</a:t>
            </a:r>
            <a:br/>
            <a:r>
              <a:t>(예: 우리팀이_정한_비밀키)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