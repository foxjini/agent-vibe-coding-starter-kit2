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5669280" cy="384048"/>
          </a:xfrm>
          <a:prstGeom prst="roundRect">
            <a:avLst>
              <a:gd name="adj" fmla="val 50000"/>
            </a:avLst>
          </a:prstGeom>
          <a:solidFill>
            <a:srgbClr val="E7EFFF"/>
          </a:solidFill>
          <a:ln w="12700">
            <a:solidFill>
              <a:srgbClr val="91B7F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22960" y="502920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5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기상 유도 알람 시스템 · 2차 개발 착수 브리핑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143000"/>
            <a:ext cx="1091153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12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기상 시스템</a:t>
            </a:r>
            <a:endParaRPr lang="en-US" sz="4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965960"/>
            <a:ext cx="1091153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8A3F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해부도</a:t>
            </a:r>
            <a:endParaRPr lang="en-US" sz="4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154680"/>
            <a:ext cx="8961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4B4E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알람이 울리고, 웹캠 앞에서 미션을 풀고, 다시 잠들지 않았는지 확인받기까지 — 5개의 부품이 주고받는 JSON 한 줄까지 그대로 열어봅니다.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40080" y="4343400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8DBCF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43434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86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Next.js 16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359152" y="4343400"/>
            <a:ext cx="1184148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BFA5F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359152" y="4343400"/>
            <a:ext cx="11841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5C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FastAPI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707892" y="4343400"/>
            <a:ext cx="937260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7BCAC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707892" y="4343400"/>
            <a:ext cx="9372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9E8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MySQL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809744" y="4343400"/>
            <a:ext cx="1924812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EBBF8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809744" y="4343400"/>
            <a:ext cx="19248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B8A1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YOLOv8 · ONNX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899148" y="4343400"/>
            <a:ext cx="204825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EEA3A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899148" y="4343400"/>
            <a:ext cx="20482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057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Raspberry Pi 5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612648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B4E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1차 완성본(Mock 하드웨어) 기준 · 2차 개발(라즈베리파이 5 실기기 연동) 착수 전 필독 자료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9260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4E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 / 13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554480" y="256032"/>
            <a:ext cx="2286000" cy="310896"/>
          </a:xfrm>
          <a:prstGeom prst="roundRect">
            <a:avLst>
              <a:gd name="adj" fmla="val 50000"/>
            </a:avLst>
          </a:prstGeom>
          <a:solidFill>
            <a:srgbClr val="E2ECFF"/>
          </a:solidFill>
          <a:ln w="12700">
            <a:solidFill>
              <a:srgbClr val="91B7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554480" y="256032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0B5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CAST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731520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시스템은 사실, 오감을 나눠 가진 팀입니다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645920"/>
            <a:ext cx="109115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4B4E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사람이 눈으로 보고 · 뇌로 판단하고 · 손으로 움직이듯, 이 시스템도 5개 부품이 역할을 하나씩 나눠 맡습니다.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640080" y="2331720"/>
            <a:ext cx="2036003" cy="3063240"/>
          </a:xfrm>
          <a:prstGeom prst="roundRect">
            <a:avLst>
              <a:gd name="adj" fmla="val 4491"/>
            </a:avLst>
          </a:prstGeom>
          <a:solidFill>
            <a:srgbClr val="F7F8FC"/>
          </a:solidFill>
          <a:ln w="12700">
            <a:solidFill>
              <a:srgbClr val="E2E4E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338042" y="2532888"/>
            <a:ext cx="640080" cy="640080"/>
          </a:xfrm>
          <a:prstGeom prst="ellipse">
            <a:avLst/>
          </a:prstGeom>
          <a:solidFill>
            <a:srgbClr val="2F86E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338042" y="253288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🖥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749808" y="3291840"/>
            <a:ext cx="181654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F86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얼굴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749808" y="3630168"/>
            <a:ext cx="181654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B4E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Frontend · Next.js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786384" y="3977640"/>
            <a:ext cx="174339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2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지금 상황을 보여주고 사용자의 명령을 받아요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2858963" y="2331720"/>
            <a:ext cx="2036003" cy="3063240"/>
          </a:xfrm>
          <a:prstGeom prst="roundRect">
            <a:avLst>
              <a:gd name="adj" fmla="val 4491"/>
            </a:avLst>
          </a:prstGeom>
          <a:solidFill>
            <a:srgbClr val="F7F8FC"/>
          </a:solidFill>
          <a:ln w="12700">
            <a:solidFill>
              <a:srgbClr val="E2E4E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556925" y="2532888"/>
            <a:ext cx="640080" cy="64008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3556925" y="253288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🧠</a:t>
            </a:r>
            <a:endParaRPr lang="en-US" sz="2600" dirty="0"/>
          </a:p>
        </p:txBody>
      </p:sp>
      <p:sp>
        <p:nvSpPr>
          <p:cNvPr id="16" name="Text 14"/>
          <p:cNvSpPr txBox="1"/>
          <p:nvPr/>
        </p:nvSpPr>
        <p:spPr>
          <a:xfrm>
            <a:off x="2968691" y="3291840"/>
            <a:ext cx="181654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B5C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뇌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2968691" y="3630168"/>
            <a:ext cx="181654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B4E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Backend · FastAPI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3005267" y="3977640"/>
            <a:ext cx="174339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2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언제 울리고 언제 꺼야 할지 판단해요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077846" y="2331720"/>
            <a:ext cx="2036003" cy="3063240"/>
          </a:xfrm>
          <a:prstGeom prst="roundRect">
            <a:avLst>
              <a:gd name="adj" fmla="val 4491"/>
            </a:avLst>
          </a:prstGeom>
          <a:solidFill>
            <a:srgbClr val="F7F8FC"/>
          </a:solidFill>
          <a:ln w="12700">
            <a:solidFill>
              <a:srgbClr val="E2E4E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775808" y="2532888"/>
            <a:ext cx="640080" cy="640080"/>
          </a:xfrm>
          <a:prstGeom prst="ellipse">
            <a:avLst/>
          </a:prstGeom>
          <a:solidFill>
            <a:srgbClr val="0F9E8E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775808" y="253288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📓</a:t>
            </a:r>
            <a:endParaRPr lang="en-US" sz="2600" dirty="0"/>
          </a:p>
        </p:txBody>
      </p:sp>
      <p:sp>
        <p:nvSpPr>
          <p:cNvPr id="22" name="Text 20"/>
          <p:cNvSpPr txBox="1"/>
          <p:nvPr/>
        </p:nvSpPr>
        <p:spPr>
          <a:xfrm>
            <a:off x="5187574" y="3291840"/>
            <a:ext cx="181654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9E8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공책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5187574" y="3630168"/>
            <a:ext cx="181654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B4E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Database · MySQL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5224150" y="3977640"/>
            <a:ext cx="174339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2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무슨 일이 있었는지 전부 적어놔요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7296729" y="2331720"/>
            <a:ext cx="2036003" cy="3063240"/>
          </a:xfrm>
          <a:prstGeom prst="roundRect">
            <a:avLst>
              <a:gd name="adj" fmla="val 4491"/>
            </a:avLst>
          </a:prstGeom>
          <a:solidFill>
            <a:srgbClr val="F7F8FC"/>
          </a:solidFill>
          <a:ln w="12700">
            <a:solidFill>
              <a:srgbClr val="E2E4E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994691" y="2532888"/>
            <a:ext cx="640080" cy="640080"/>
          </a:xfrm>
          <a:prstGeom prst="ellipse">
            <a:avLst/>
          </a:prstGeom>
          <a:solidFill>
            <a:srgbClr val="DB8A1D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7994691" y="253288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👁</a:t>
            </a:r>
            <a:endParaRPr lang="en-US" sz="2600" dirty="0"/>
          </a:p>
        </p:txBody>
      </p:sp>
      <p:sp>
        <p:nvSpPr>
          <p:cNvPr id="28" name="Text 26"/>
          <p:cNvSpPr txBox="1"/>
          <p:nvPr/>
        </p:nvSpPr>
        <p:spPr>
          <a:xfrm>
            <a:off x="7406457" y="3291840"/>
            <a:ext cx="181654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B8A1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눈</a:t>
            </a:r>
            <a:endParaRPr lang="en-US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7406457" y="3630168"/>
            <a:ext cx="181654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B4E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Vision · YOLOv8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7443033" y="3977640"/>
            <a:ext cx="174339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2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웹캠으로 미션 성공 여부를 지켜봐요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9515612" y="2331720"/>
            <a:ext cx="2036003" cy="3063240"/>
          </a:xfrm>
          <a:prstGeom prst="roundRect">
            <a:avLst>
              <a:gd name="adj" fmla="val 4491"/>
            </a:avLst>
          </a:prstGeom>
          <a:solidFill>
            <a:srgbClr val="F7F8FC"/>
          </a:solidFill>
          <a:ln w="12700">
            <a:solidFill>
              <a:srgbClr val="E2E4EE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0213574" y="2532888"/>
            <a:ext cx="640080" cy="640080"/>
          </a:xfrm>
          <a:prstGeom prst="ellipse">
            <a:avLst/>
          </a:prstGeom>
          <a:solidFill>
            <a:srgbClr val="E0576B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10213574" y="253288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⚡</a:t>
            </a:r>
            <a:endParaRPr lang="en-US" sz="2600" dirty="0"/>
          </a:p>
        </p:txBody>
      </p:sp>
      <p:sp>
        <p:nvSpPr>
          <p:cNvPr id="34" name="Text 32"/>
          <p:cNvSpPr txBox="1"/>
          <p:nvPr/>
        </p:nvSpPr>
        <p:spPr>
          <a:xfrm>
            <a:off x="9625340" y="3291840"/>
            <a:ext cx="181654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057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손</a:t>
            </a:r>
            <a:endParaRPr lang="en-US" sz="1600" dirty="0"/>
          </a:p>
        </p:txBody>
      </p:sp>
      <p:sp>
        <p:nvSpPr>
          <p:cNvPr id="35" name="Text 33"/>
          <p:cNvSpPr txBox="1"/>
          <p:nvPr/>
        </p:nvSpPr>
        <p:spPr>
          <a:xfrm>
            <a:off x="9625340" y="3630168"/>
            <a:ext cx="181654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B4E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Hardware · Pi 5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9661916" y="3977640"/>
            <a:ext cx="174339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2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진짜로 부저를 울리고 꺼요</a:t>
            </a:r>
            <a:endParaRPr lang="en-US" sz="1150" dirty="0"/>
          </a:p>
        </p:txBody>
      </p:sp>
      <p:sp>
        <p:nvSpPr>
          <p:cNvPr id="37" name="Text 35"/>
          <p:cNvSpPr txBox="1"/>
          <p:nvPr/>
        </p:nvSpPr>
        <p:spPr>
          <a:xfrm>
            <a:off x="640080" y="5577840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B4E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지금부터 한 명씩, 그리고 이들이 나누는 대화를 하나씩 살펴봅니다.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9260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4E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 / 13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554480" y="256032"/>
            <a:ext cx="2286000" cy="310896"/>
          </a:xfrm>
          <a:prstGeom prst="roundRect">
            <a:avLst>
              <a:gd name="adj" fmla="val 50000"/>
            </a:avLst>
          </a:prstGeom>
          <a:solidFill>
            <a:srgbClr val="E2ECFF"/>
          </a:solidFill>
          <a:ln w="12700">
            <a:solidFill>
              <a:srgbClr val="91B7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554480" y="256032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0B5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SYSTEM MAP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457200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누구에게 말을 거나요?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663440" y="1554480"/>
            <a:ext cx="2468880" cy="685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2F86E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754880" y="16642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Frontend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4754880" y="2011680"/>
            <a:ext cx="2286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4B4E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Next.js 대시보드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663440" y="3063240"/>
            <a:ext cx="246888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28575">
            <a:solidFill>
              <a:srgbClr val="8B5CF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754880" y="317296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Backend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754880" y="3520440"/>
            <a:ext cx="22860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4B4E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FastAPI (중계 허브)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663440" y="5074920"/>
            <a:ext cx="2468880" cy="685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0F9E8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754880" y="518464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Database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4754880" y="5532120"/>
            <a:ext cx="2286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4B4E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MySQL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40080" y="3154680"/>
            <a:ext cx="2286000" cy="685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DB8A1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31520" y="3264408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Vision 클라이언트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731520" y="3611880"/>
            <a:ext cx="21031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4B4E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웹캠 PC · 독립 프로세스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8869680" y="3154680"/>
            <a:ext cx="2286000" cy="685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E0576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961120" y="3264408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Raspberry Pi 5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8961120" y="3611880"/>
            <a:ext cx="21031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4B4E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Mock → 실기기 · 독립 프로세스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897880" y="2240280"/>
            <a:ext cx="0" cy="822960"/>
          </a:xfrm>
          <a:prstGeom prst="line">
            <a:avLst/>
          </a:prstGeom>
          <a:noFill/>
          <a:ln w="25400">
            <a:solidFill>
              <a:srgbClr val="4B4E5C"/>
            </a:solidFill>
            <a:prstDash val="solid"/>
            <a:headEnd type="triangl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4709160" y="2423160"/>
            <a:ext cx="237744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4709160" y="24231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B4E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WebSocket + REST(JSON)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897880" y="3931920"/>
            <a:ext cx="0" cy="1143000"/>
          </a:xfrm>
          <a:prstGeom prst="line">
            <a:avLst/>
          </a:prstGeom>
          <a:noFill/>
          <a:ln w="25400">
            <a:solidFill>
              <a:srgbClr val="4B4E5C"/>
            </a:solidFill>
            <a:prstDash val="solid"/>
            <a:headEnd type="triangle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4709160" y="4274820"/>
            <a:ext cx="237744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709160" y="42748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B4E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저장 / 조회 (PyMySQL)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926080" y="3497580"/>
            <a:ext cx="1737360" cy="0"/>
          </a:xfrm>
          <a:prstGeom prst="line">
            <a:avLst/>
          </a:prstGeom>
          <a:noFill/>
          <a:ln w="25400">
            <a:solidFill>
              <a:srgbClr val="DB8A1D"/>
            </a:solidFill>
            <a:prstDash val="solid"/>
            <a:headEnd type="none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3017520" y="3268980"/>
            <a:ext cx="155448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3017520" y="326898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B8A1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POST vision/events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7132320" y="3497580"/>
            <a:ext cx="1737360" cy="0"/>
          </a:xfrm>
          <a:prstGeom prst="line">
            <a:avLst/>
          </a:prstGeom>
          <a:noFill/>
          <a:ln w="25400">
            <a:solidFill>
              <a:srgbClr val="E0576B"/>
            </a:solidFill>
            <a:prstDash val="solid"/>
            <a:headEnd type="triangle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7200900" y="3268980"/>
            <a:ext cx="160020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7200900" y="326898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057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desired-state 폴링(1초)</a:t>
            </a:r>
            <a:endParaRPr lang="en-US" sz="800" dirty="0"/>
          </a:p>
        </p:txBody>
      </p:sp>
      <p:sp>
        <p:nvSpPr>
          <p:cNvPr id="33" name="Text 31"/>
          <p:cNvSpPr txBox="1"/>
          <p:nvPr/>
        </p:nvSpPr>
        <p:spPr>
          <a:xfrm>
            <a:off x="640080" y="6355080"/>
            <a:ext cx="109115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4B4E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백엔드가 정중앙에서 모든 대화를 중계합니다 — 비전 클라이언트와 라즈베리파이는 서로 다른 컴퓨터에서 실행되며, 절대 서로 직접 통신하지 않습니다.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9260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4E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 / 13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554480" y="256032"/>
            <a:ext cx="2286000" cy="310896"/>
          </a:xfrm>
          <a:prstGeom prst="roundRect">
            <a:avLst>
              <a:gd name="adj" fmla="val 50000"/>
            </a:avLst>
          </a:prstGeom>
          <a:solidFill>
            <a:srgbClr val="E6F0FD"/>
          </a:solidFill>
          <a:ln w="12700">
            <a:solidFill>
              <a:srgbClr val="A1C9F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554480" y="256032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2F86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FRONTEND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640080" y="713232"/>
            <a:ext cx="777240" cy="777240"/>
          </a:xfrm>
          <a:prstGeom prst="ellipse">
            <a:avLst/>
          </a:prstGeom>
          <a:solidFill>
            <a:srgbClr val="2F86E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713232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🖥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1600200" y="667512"/>
            <a:ext cx="9951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2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얼굴 — 지금 상황을 보여주는 화면</a:t>
            </a:r>
            <a:endParaRPr lang="en-US" sz="27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581912"/>
            <a:ext cx="109115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4B4E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Next.js 16 · React 19 · TypeScript · Tailwind CSS · Lucide Icons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640080" y="2194560"/>
            <a:ext cx="137160" cy="137160"/>
          </a:xfrm>
          <a:prstGeom prst="roundRect">
            <a:avLst>
              <a:gd name="adj" fmla="val 26667"/>
            </a:avLst>
          </a:prstGeom>
          <a:solidFill>
            <a:srgbClr val="2F86E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14400" y="2103120"/>
            <a:ext cx="5715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2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WebSocket(ws://.../ws)에 연결해 상태를 실시간으로 받아요 — 새로고침 없이 화면이 바로 바뀝니다.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3054096"/>
            <a:ext cx="137160" cy="137160"/>
          </a:xfrm>
          <a:prstGeom prst="roundRect">
            <a:avLst>
              <a:gd name="adj" fmla="val 26667"/>
            </a:avLst>
          </a:prstGeom>
          <a:solidFill>
            <a:srgbClr val="2F86EB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914400" y="2962656"/>
            <a:ext cx="5715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2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부저가 울리면 AlertCard가 켜지고, 사용자가 버튼 하나로 끌 수 있어요.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3913632"/>
            <a:ext cx="137160" cy="137160"/>
          </a:xfrm>
          <a:prstGeom prst="roundRect">
            <a:avLst>
              <a:gd name="adj" fmla="val 26667"/>
            </a:avLst>
          </a:prstGeom>
          <a:solidFill>
            <a:srgbClr val="2F86E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14400" y="3822192"/>
            <a:ext cx="5715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2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미션 성공 25초 후 뜨는 기상 확인 팝업도 이 화면의 몫이에요 — 15초 카운트다운까지 직접 그립니다.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" y="4773168"/>
            <a:ext cx="137160" cy="137160"/>
          </a:xfrm>
          <a:prstGeom prst="roundRect">
            <a:avLst>
              <a:gd name="adj" fmla="val 26667"/>
            </a:avLst>
          </a:prstGeom>
          <a:solidFill>
            <a:srgbClr val="2F86EB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14400" y="4681728"/>
            <a:ext cx="5715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2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이미 만들어져 있어 다시 만들 필요 없는 부품: ConnectionBadge.tsx, statusColor.ts.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949440" y="2103120"/>
            <a:ext cx="4602175" cy="1938528"/>
          </a:xfrm>
          <a:prstGeom prst="roundRect">
            <a:avLst>
              <a:gd name="adj" fmla="val 4245"/>
            </a:avLst>
          </a:prstGeom>
          <a:solidFill>
            <a:srgbClr val="10121C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150608" y="2231136"/>
            <a:ext cx="4199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297B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frontend/ 폴더 구조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7150608" y="2523744"/>
            <a:ext cx="4199839" cy="1435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7E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app/page.tsx           # 대시보드 메인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7E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components/dashboard/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297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ActuatorCard.tsx     # 부저 카드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297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SensorCard.tsx       # 센서 카드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297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AlarmScheduleCard.tsx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949440" y="4224528"/>
            <a:ext cx="4602175" cy="1389888"/>
          </a:xfrm>
          <a:prstGeom prst="roundRect">
            <a:avLst>
              <a:gd name="adj" fmla="val 5921"/>
            </a:avLst>
          </a:prstGeom>
          <a:solidFill>
            <a:srgbClr val="10121C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150608" y="4352544"/>
            <a:ext cx="4199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297B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실시간으로 받는 메시지 한 조각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7150608" y="4645152"/>
            <a:ext cx="4199839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"type": "device_state",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B7F5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"device_id": "buzzer_1",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B7F5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"state": "ringing" }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9260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4E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 / 13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554480" y="256032"/>
            <a:ext cx="2286000" cy="310896"/>
          </a:xfrm>
          <a:prstGeom prst="roundRect">
            <a:avLst>
              <a:gd name="adj" fmla="val 50000"/>
            </a:avLst>
          </a:prstGeom>
          <a:solidFill>
            <a:srgbClr val="F1EBFE"/>
          </a:solidFill>
          <a:ln w="12700">
            <a:solidFill>
              <a:srgbClr val="CBB6F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554480" y="256032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8B5C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BACKEND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640080" y="713232"/>
            <a:ext cx="777240" cy="77724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713232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🧠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1600200" y="667512"/>
            <a:ext cx="9951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2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뇌 — 언제 울리고, 언제 꺼야 할지 판단</a:t>
            </a:r>
            <a:endParaRPr lang="en-US" sz="27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581912"/>
            <a:ext cx="109115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4B4E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FastAPI · Python 3.12 · Uvicorn · WebSocket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640080" y="2194560"/>
            <a:ext cx="137160" cy="137160"/>
          </a:xfrm>
          <a:prstGeom prst="roundRect">
            <a:avLst>
              <a:gd name="adj" fmla="val 26667"/>
            </a:avLst>
          </a:prstGeom>
          <a:solidFill>
            <a:srgbClr val="8B5CF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14400" y="2103120"/>
            <a:ext cx="5715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2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라우터 4개로 일을 나눠요: devices(기기) · alarm(알람) · vision(영상 이벤트) · logs(기록).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3054096"/>
            <a:ext cx="137160" cy="137160"/>
          </a:xfrm>
          <a:prstGeom prst="roundRect">
            <a:avLst>
              <a:gd name="adj" fmla="val 26667"/>
            </a:avLst>
          </a:prstGeom>
          <a:solidFill>
            <a:srgbClr val="8B5CF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914400" y="2962656"/>
            <a:ext cx="5715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2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trigger_service.py 하나가 '미션 성공 → 알람 종료 → 25초 후 확인 팝업 → 15초 무응답 시 재알람'까지 전부 판단해요.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3913632"/>
            <a:ext cx="137160" cy="137160"/>
          </a:xfrm>
          <a:prstGeom prst="roundRect">
            <a:avLst>
              <a:gd name="adj" fmla="val 26667"/>
            </a:avLst>
          </a:prstGeom>
          <a:solidFill>
            <a:srgbClr val="8B5CF6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14400" y="3822192"/>
            <a:ext cx="5715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2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사람이 시키지 않아도 스스로 타이머를 돌리는 부분(2차 수면 방지)이 바로 여기 있어요 — asyncio.create_task.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" y="4773168"/>
            <a:ext cx="137160" cy="137160"/>
          </a:xfrm>
          <a:prstGeom prst="roundRect">
            <a:avLst>
              <a:gd name="adj" fmla="val 26667"/>
            </a:avLst>
          </a:prstGeom>
          <a:solidFill>
            <a:srgbClr val="8B5CF6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14400" y="4681728"/>
            <a:ext cx="5715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2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GPIO는 절대 만지지 않아요 — 실제 부저를 켜고 끄는 건 언제나 라즈베리파이의 몫, 백엔드는 중계자일 뿐이에요.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949440" y="2103120"/>
            <a:ext cx="4602175" cy="2231136"/>
          </a:xfrm>
          <a:prstGeom prst="roundRect">
            <a:avLst>
              <a:gd name="adj" fmla="val 3689"/>
            </a:avLst>
          </a:prstGeom>
          <a:solidFill>
            <a:srgbClr val="10121C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150608" y="2231136"/>
            <a:ext cx="4199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297B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실제 살아있는 엔드포인트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7150608" y="2523744"/>
            <a:ext cx="4199839" cy="1728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CB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 /api/devices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CE0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/api/v1/devices/{id}/state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7CB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 /api/v1/devices/{id}/desired-state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CE0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/api/alarm/schedule · /trigger · /stop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CE0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/api/v1/vision/events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7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WS   /ws (실시간 브로드캐스트)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9260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4E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06 / 13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554480" y="256032"/>
            <a:ext cx="2286000" cy="310896"/>
          </a:xfrm>
          <a:prstGeom prst="roundRect">
            <a:avLst>
              <a:gd name="adj" fmla="val 50000"/>
            </a:avLst>
          </a:prstGeom>
          <a:solidFill>
            <a:srgbClr val="E2F3F1"/>
          </a:solidFill>
          <a:ln w="12700">
            <a:solidFill>
              <a:srgbClr val="93D3C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554480" y="256032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0F9E8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DATABASE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640080" y="713232"/>
            <a:ext cx="777240" cy="777240"/>
          </a:xfrm>
          <a:prstGeom prst="ellipse">
            <a:avLst/>
          </a:prstGeom>
          <a:solidFill>
            <a:srgbClr val="0F9E8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713232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📓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1600200" y="667512"/>
            <a:ext cx="9951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2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공책 — 무슨 일이 있었는지 전부 기억</a:t>
            </a:r>
            <a:endParaRPr lang="en-US" sz="27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581912"/>
            <a:ext cx="109115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4B4E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MySQL / MariaDB(로컬) → Supabase PostgreSQL(클라우드 배포 시)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640080" y="2194560"/>
            <a:ext cx="137160" cy="137160"/>
          </a:xfrm>
          <a:prstGeom prst="roundRect">
            <a:avLst>
              <a:gd name="adj" fmla="val 26667"/>
            </a:avLst>
          </a:prstGeom>
          <a:solidFill>
            <a:srgbClr val="0F9E8E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14400" y="2103120"/>
            <a:ext cx="5715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2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필요할까요? 백엔드를 껐다 켜도(--reload) 방금까지의 알람 상태가 사라지면 안 되니까요.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3054096"/>
            <a:ext cx="137160" cy="137160"/>
          </a:xfrm>
          <a:prstGeom prst="roundRect">
            <a:avLst>
              <a:gd name="adj" fmla="val 26667"/>
            </a:avLst>
          </a:prstGeom>
          <a:solidFill>
            <a:srgbClr val="0F9E8E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914400" y="2962656"/>
            <a:ext cx="571500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2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테이블 4개면 충분해요: devices(지금 상태) · sensor_readings(센서 이력) · control_log(누가 시켰나) · vision_events(웹캠이 본 것).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4187952"/>
            <a:ext cx="137160" cy="137160"/>
          </a:xfrm>
          <a:prstGeom prst="roundRect">
            <a:avLst>
              <a:gd name="adj" fmla="val 26667"/>
            </a:avLst>
          </a:prstGeom>
          <a:solidFill>
            <a:srgbClr val="0F9E8E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14400" y="4096512"/>
            <a:ext cx="5715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2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control_log.actor 컬럼 하나로 '사람이 눌렀나 / 기계가 보고했나 / 시스템이 자동 판단했나'까지 전부 구분해요.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949440" y="2103120"/>
            <a:ext cx="4602175" cy="1645920"/>
          </a:xfrm>
          <a:prstGeom prst="roundRect">
            <a:avLst>
              <a:gd name="adj" fmla="val 5000"/>
            </a:avLst>
          </a:prstGeom>
          <a:solidFill>
            <a:srgbClr val="10121C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150608" y="2231136"/>
            <a:ext cx="4199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297B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backend/db/init.sql — 시드 데이터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7150608" y="2523744"/>
            <a:ext cx="4199839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INSERT INTO devices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B7F5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('buzzer_1', '알람 출력 장치', 'buzzer'),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B7F5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('touch_pad_1', '패드 화면/터치', 'touch_pad'),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B7F5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('camera_1', '기상 감지 카메라', 'camera');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9260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4E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07 / 13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554480" y="256032"/>
            <a:ext cx="2286000" cy="310896"/>
          </a:xfrm>
          <a:prstGeom prst="roundRect">
            <a:avLst>
              <a:gd name="adj" fmla="val 50000"/>
            </a:avLst>
          </a:prstGeom>
          <a:solidFill>
            <a:srgbClr val="FBF1E4"/>
          </a:solidFill>
          <a:ln w="12700">
            <a:solidFill>
              <a:srgbClr val="EFCA99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554480" y="256032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DB8A1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VISION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640080" y="713232"/>
            <a:ext cx="777240" cy="777240"/>
          </a:xfrm>
          <a:prstGeom prst="ellipse">
            <a:avLst/>
          </a:prstGeom>
          <a:solidFill>
            <a:srgbClr val="DB8A1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713232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👁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1600200" y="667512"/>
            <a:ext cx="9951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2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눈 — 웹캠으로 미션 성공을 확인</a:t>
            </a:r>
            <a:endParaRPr lang="en-US" sz="27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581912"/>
            <a:ext cx="109115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4B4E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OpenCV · YOLOv8(ONNX) · onnxruntime · Pillow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640080" y="2194560"/>
            <a:ext cx="137160" cy="137160"/>
          </a:xfrm>
          <a:prstGeom prst="roundRect">
            <a:avLst>
              <a:gd name="adj" fmla="val 26667"/>
            </a:avLst>
          </a:prstGeom>
          <a:solidFill>
            <a:srgbClr val="DB8A1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14400" y="2103120"/>
            <a:ext cx="5715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2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PyTorch 없이 동작해요 — 초경량 ONNX 엔진만으로 실습실 30여 대가 동시에 설치해도 학내망이 안 막혀요.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3054096"/>
            <a:ext cx="137160" cy="137160"/>
          </a:xfrm>
          <a:prstGeom prst="roundRect">
            <a:avLst>
              <a:gd name="adj" fmla="val 26667"/>
            </a:avLst>
          </a:prstGeom>
          <a:solidFill>
            <a:srgbClr val="DB8A1D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914400" y="2962656"/>
            <a:ext cx="5715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2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COCO 80종 중 5개만 기상 미션으로 씁니다: 사람 · 물병 · 컵 · 책 · 휴대폰.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3913632"/>
            <a:ext cx="137160" cy="137160"/>
          </a:xfrm>
          <a:prstGeom prst="roundRect">
            <a:avLst>
              <a:gd name="adj" fmla="val 26667"/>
            </a:avLst>
          </a:prstGeom>
          <a:solidFill>
            <a:srgbClr val="DB8A1D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14400" y="3822192"/>
            <a:ext cx="5715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2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키보드 1~5, A로 지금 확인할 미션 대상을 직접 바꿔가며 테스트할 수 있어요.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" y="4773168"/>
            <a:ext cx="137160" cy="137160"/>
          </a:xfrm>
          <a:prstGeom prst="roundRect">
            <a:avLst>
              <a:gd name="adj" fmla="val 26667"/>
            </a:avLst>
          </a:prstGeom>
          <a:solidFill>
            <a:srgbClr val="DB8A1D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14400" y="4681728"/>
            <a:ext cx="5715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2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한글 자막은 cv2.putText 대신 Pillow로 그려요 — 안 그러면 글자가 ???로 깨집니다.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949440" y="2103120"/>
            <a:ext cx="4602175" cy="1645920"/>
          </a:xfrm>
          <a:prstGeom prst="roundRect">
            <a:avLst>
              <a:gd name="adj" fmla="val 5000"/>
            </a:avLst>
          </a:prstGeom>
          <a:solidFill>
            <a:srgbClr val="10121C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150608" y="2231136"/>
            <a:ext cx="4199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297B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vision/main.py → backend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7150608" y="2523744"/>
            <a:ext cx="4199839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/api/v1/vision/events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B7F5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"event_type": "bottle_detected",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D4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"detected": true, "count": 1,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D4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"confidence": 0.87 }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9260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4E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08 / 13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554480" y="256032"/>
            <a:ext cx="2286000" cy="310896"/>
          </a:xfrm>
          <a:prstGeom prst="roundRect">
            <a:avLst>
              <a:gd name="adj" fmla="val 50000"/>
            </a:avLst>
          </a:prstGeom>
          <a:solidFill>
            <a:srgbClr val="FBEBED"/>
          </a:solidFill>
          <a:ln w="12700">
            <a:solidFill>
              <a:srgbClr val="F1B3B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554480" y="256032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E057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HARDWARE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640080" y="713232"/>
            <a:ext cx="777240" cy="777240"/>
          </a:xfrm>
          <a:prstGeom prst="ellipse">
            <a:avLst/>
          </a:prstGeom>
          <a:solidFill>
            <a:srgbClr val="E0576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713232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⚡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1600200" y="667512"/>
            <a:ext cx="9951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2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손 — 진짜로 부저를 울리고 끄기</a:t>
            </a:r>
            <a:endParaRPr lang="en-US" sz="27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581912"/>
            <a:ext cx="109115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4B4E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라즈베리파이 5 · gpiozero/lgpio(2차 목표) · 지금은 Windows Mock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640080" y="2194560"/>
            <a:ext cx="137160" cy="137160"/>
          </a:xfrm>
          <a:prstGeom prst="roundRect">
            <a:avLst>
              <a:gd name="adj" fmla="val 26667"/>
            </a:avLst>
          </a:prstGeom>
          <a:solidFill>
            <a:srgbClr val="E0576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14400" y="2103120"/>
            <a:ext cx="571500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2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지금(1차)의 정체: pi/main.py는 사실 '라즈베리파이 흉내'를 내는 윈도우용 프로그램이에요 — winsound 비프음 + Tkinter 터치패드 창.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3328416"/>
            <a:ext cx="137160" cy="137160"/>
          </a:xfrm>
          <a:prstGeom prst="roundRect">
            <a:avLst>
              <a:gd name="adj" fmla="val 26667"/>
            </a:avLst>
          </a:prstGeom>
          <a:solidFill>
            <a:srgbClr val="E0576B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914400" y="3236976"/>
            <a:ext cx="5715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2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1초마다 백엔드에 '지금 부저 켜야 해?'라고 물어봐요(폴링) — 백엔드가 라즈베리파이를 직접 찾아가는 일은 없어요.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4187952"/>
            <a:ext cx="137160" cy="137160"/>
          </a:xfrm>
          <a:prstGeom prst="roundRect">
            <a:avLst>
              <a:gd name="adj" fmla="val 26667"/>
            </a:avLst>
          </a:prstGeom>
          <a:solidFill>
            <a:srgbClr val="E0576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14400" y="4096512"/>
            <a:ext cx="5715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2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터치패드 화면을 클릭하면 실제 터치처럼 백엔드로 전송돼 2차 수면 확인이 완료돼요.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" y="5047488"/>
            <a:ext cx="137160" cy="137160"/>
          </a:xfrm>
          <a:prstGeom prst="roundRect">
            <a:avLst>
              <a:gd name="adj" fmla="val 26667"/>
            </a:avLst>
          </a:prstGeom>
          <a:solidFill>
            <a:srgbClr val="E0576B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14400" y="4956048"/>
            <a:ext cx="5715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2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2차 개발 = 이 파일을 실제 GPIO 코드로 바꾸는 것 — 부저는 GPIO 18, 버튼은 GPIO 24 같은 식으로.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949440" y="2103120"/>
            <a:ext cx="4602175" cy="1938528"/>
          </a:xfrm>
          <a:prstGeom prst="roundRect">
            <a:avLst>
              <a:gd name="adj" fmla="val 4245"/>
            </a:avLst>
          </a:prstGeom>
          <a:solidFill>
            <a:srgbClr val="10121C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150608" y="2231136"/>
            <a:ext cx="4199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297B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pi/main.py — 폴링 루프(1초 주기)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7150608" y="2523744"/>
            <a:ext cx="4199839" cy="1435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desired-state("buzzer_1")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D4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desired_state == "ringing":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B7F5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start_buzzer_sound()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D4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else: stop_buzzer_sound()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state(반영 결과 보고)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9260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4E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09 / 13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554480" y="256032"/>
            <a:ext cx="2286000" cy="310896"/>
          </a:xfrm>
          <a:prstGeom prst="roundRect">
            <a:avLst>
              <a:gd name="adj" fmla="val 50000"/>
            </a:avLst>
          </a:prstGeom>
          <a:solidFill>
            <a:srgbClr val="E2ECFF"/>
          </a:solidFill>
          <a:ln w="12700">
            <a:solidFill>
              <a:srgbClr val="91B7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554480" y="256032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0B5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연동의 규칙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667512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2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다섯 부품이 대화하는 공용어 : REST API + JSON</a:t>
            </a:r>
            <a:endParaRPr lang="en-US" sz="27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581912"/>
            <a:ext cx="109115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4B4E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REST API는 '식당 메뉴판'과 같아요 — 정확한 이름(URL)과 주문서 양식(JSON)만 지키면 음식이 나옵니다.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640080" y="2194560"/>
            <a:ext cx="137160" cy="137160"/>
          </a:xfrm>
          <a:prstGeom prst="roundRect">
            <a:avLst>
              <a:gd name="adj" fmla="val 26667"/>
            </a:avLst>
          </a:prstGeom>
          <a:solidFill>
            <a:srgbClr val="0B5FF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14400" y="2103120"/>
            <a:ext cx="5715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2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X-Device-Api-Key — 기계(비전 · 라즈베리파이)용. 서버가 문자열을 그대로 비교해서 틀리면 401.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3054096"/>
            <a:ext cx="137160" cy="137160"/>
          </a:xfrm>
          <a:prstGeom prst="roundRect">
            <a:avLst>
              <a:gd name="adj" fmla="val 26667"/>
            </a:avLst>
          </a:prstGeom>
          <a:solidFill>
            <a:srgbClr val="0B5FF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14400" y="2962656"/>
            <a:ext cx="5715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2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Authorization: Bearer … — 사람(대시보드)용.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949440" y="2103120"/>
            <a:ext cx="4602175" cy="768096"/>
          </a:xfrm>
          <a:prstGeom prst="roundRect">
            <a:avLst>
              <a:gd name="adj" fmla="val 10714"/>
            </a:avLst>
          </a:prstGeom>
          <a:solidFill>
            <a:srgbClr val="10121C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150608" y="2231136"/>
            <a:ext cx="4199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297B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GET /api/v1/devices/buzzer_1/desired-state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7150608" y="2523744"/>
            <a:ext cx="4199839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297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X-Device-Api-Key: 우리팀_비밀키...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949440" y="3054096"/>
            <a:ext cx="4602175" cy="1097280"/>
          </a:xfrm>
          <a:prstGeom prst="roundRect">
            <a:avLst>
              <a:gd name="adj" fmla="val 7500"/>
            </a:avLst>
          </a:prstGeom>
          <a:solidFill>
            <a:srgbClr val="10121C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150608" y="3182112"/>
            <a:ext cx="4199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297B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응답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7150608" y="3474720"/>
            <a:ext cx="4199839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"data": { "desired_state":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B7F5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"ringing", "value": {"volume":85} } }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6080760"/>
            <a:ext cx="10911535" cy="786384"/>
          </a:xfrm>
          <a:prstGeom prst="roundRect">
            <a:avLst>
              <a:gd name="adj" fmla="val 9302"/>
            </a:avLst>
          </a:prstGeom>
          <a:solidFill>
            <a:srgbClr val="FAF2E7"/>
          </a:solidFill>
          <a:ln w="12700">
            <a:solidFill>
              <a:srgbClr val="E7C39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41248" y="6172200"/>
            <a:ext cx="1050919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C97A0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주의 솔직 고백: </a:t>
            </a:r>
            <a:pPr indent="0" marL="0">
              <a:buNone/>
            </a:pPr>
            <a:r>
              <a:rPr lang="en-US" sz="1250" dirty="0">
                <a:solidFill>
                  <a:srgbClr val="12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1차 단계에서는 사람 출입증이 사실 검사되지 않아요 — SUPABASE_JWT_SECRET이 없으면 그냥 통과시킵니다. 5단계 클라우드 배포부터 진짜로 잠깁니다.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9260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4E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 / 13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554480" y="256032"/>
            <a:ext cx="2286000" cy="310896"/>
          </a:xfrm>
          <a:prstGeom prst="roundRect">
            <a:avLst>
              <a:gd name="adj" fmla="val 50000"/>
            </a:avLst>
          </a:prstGeom>
          <a:solidFill>
            <a:srgbClr val="E2ECFF"/>
          </a:solidFill>
          <a:ln w="12700">
            <a:solidFill>
              <a:srgbClr val="91B7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554480" y="256032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0B5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TRIGGER RULES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667512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알람이 울린 순간부터 확인까지 — 전체 여정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581912"/>
            <a:ext cx="109115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4B4E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미션 성공 후 25초, 확인까지 다시 15초 — trigger_service.py의 상수 그대로예요.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640080" y="2103120"/>
            <a:ext cx="4480560" cy="889254"/>
          </a:xfrm>
          <a:prstGeom prst="roundRect">
            <a:avLst>
              <a:gd name="adj" fmla="val 7198"/>
            </a:avLst>
          </a:prstGeom>
          <a:solidFill>
            <a:srgbClr val="FCF6ED"/>
          </a:solidFill>
          <a:ln w="12700">
            <a:solidFill>
              <a:srgbClr val="E2E4E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04672" y="2103120"/>
            <a:ext cx="4151376" cy="889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2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⏰ 알람 시각 도달 / 즉시 트리거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193792" y="2547747"/>
            <a:ext cx="432511" cy="0"/>
          </a:xfrm>
          <a:prstGeom prst="line">
            <a:avLst/>
          </a:prstGeom>
          <a:noFill/>
          <a:ln w="25400">
            <a:solidFill>
              <a:srgbClr val="4B4E5C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6065215" y="2103120"/>
            <a:ext cx="5486400" cy="889254"/>
          </a:xfrm>
          <a:prstGeom prst="roundRect">
            <a:avLst>
              <a:gd name="adj" fmla="val 7198"/>
            </a:avLst>
          </a:prstGeom>
          <a:solidFill>
            <a:srgbClr val="FDF2F3"/>
          </a:solidFill>
          <a:ln w="12700">
            <a:solidFill>
              <a:srgbClr val="E2E4E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229807" y="2103120"/>
            <a:ext cx="5157216" cy="889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2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🔔 피에조 부저 ON (ringing)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3102102"/>
            <a:ext cx="4480560" cy="889254"/>
          </a:xfrm>
          <a:prstGeom prst="roundRect">
            <a:avLst>
              <a:gd name="adj" fmla="val 7198"/>
            </a:avLst>
          </a:prstGeom>
          <a:solidFill>
            <a:srgbClr val="FCF6ED"/>
          </a:solidFill>
          <a:ln w="12700">
            <a:solidFill>
              <a:srgbClr val="E2E4E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04672" y="3102102"/>
            <a:ext cx="4151376" cy="889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2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👁 웹캠 앞에서 미션 수행 (사람·물병·컵·책·휴대폰)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193792" y="3546729"/>
            <a:ext cx="432511" cy="0"/>
          </a:xfrm>
          <a:prstGeom prst="line">
            <a:avLst/>
          </a:prstGeom>
          <a:noFill/>
          <a:ln w="25400">
            <a:solidFill>
              <a:srgbClr val="4B4E5C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6065215" y="3102102"/>
            <a:ext cx="5486400" cy="889254"/>
          </a:xfrm>
          <a:prstGeom prst="roundRect">
            <a:avLst>
              <a:gd name="adj" fmla="val 7198"/>
            </a:avLst>
          </a:prstGeom>
          <a:solidFill>
            <a:srgbClr val="FDF2F3"/>
          </a:solidFill>
          <a:ln w="12700">
            <a:solidFill>
              <a:srgbClr val="E2E4E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229807" y="3102102"/>
            <a:ext cx="5157216" cy="889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2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✅ 미션 성공 → 알람 OFF, 25초 대기 시작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40080" y="4101084"/>
            <a:ext cx="4480560" cy="889254"/>
          </a:xfrm>
          <a:prstGeom prst="roundRect">
            <a:avLst>
              <a:gd name="adj" fmla="val 7198"/>
            </a:avLst>
          </a:prstGeom>
          <a:solidFill>
            <a:srgbClr val="FCF6ED"/>
          </a:solidFill>
          <a:ln w="12700">
            <a:solidFill>
              <a:srgbClr val="E2E4E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04672" y="4101084"/>
            <a:ext cx="4151376" cy="889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2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⏱ 25초 후 → 기상 확인 팝업 (15초 제한)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193792" y="4545711"/>
            <a:ext cx="432511" cy="0"/>
          </a:xfrm>
          <a:prstGeom prst="line">
            <a:avLst/>
          </a:prstGeom>
          <a:noFill/>
          <a:ln w="25400">
            <a:solidFill>
              <a:srgbClr val="4B4E5C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6065215" y="4101084"/>
            <a:ext cx="5486400" cy="889254"/>
          </a:xfrm>
          <a:prstGeom prst="roundRect">
            <a:avLst>
              <a:gd name="adj" fmla="val 7198"/>
            </a:avLst>
          </a:prstGeom>
          <a:solidFill>
            <a:srgbClr val="FDF2F3"/>
          </a:solidFill>
          <a:ln w="12700">
            <a:solidFill>
              <a:srgbClr val="E2E4E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229807" y="4101084"/>
            <a:ext cx="5157216" cy="889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2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👆 확인함(버튼·터치패드) → 종료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40080" y="5100066"/>
            <a:ext cx="4480560" cy="889254"/>
          </a:xfrm>
          <a:prstGeom prst="roundRect">
            <a:avLst>
              <a:gd name="adj" fmla="val 7198"/>
            </a:avLst>
          </a:prstGeom>
          <a:solidFill>
            <a:srgbClr val="FCF6ED"/>
          </a:solidFill>
          <a:ln w="12700">
            <a:solidFill>
              <a:srgbClr val="E2E4EE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04672" y="5100066"/>
            <a:ext cx="4151376" cy="889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2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⏱ 15초 무응답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193792" y="5544693"/>
            <a:ext cx="432511" cy="0"/>
          </a:xfrm>
          <a:prstGeom prst="line">
            <a:avLst/>
          </a:prstGeom>
          <a:noFill/>
          <a:ln w="25400">
            <a:solidFill>
              <a:srgbClr val="4B4E5C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6065215" y="5100066"/>
            <a:ext cx="5486400" cy="889254"/>
          </a:xfrm>
          <a:prstGeom prst="roundRect">
            <a:avLst>
              <a:gd name="adj" fmla="val 7198"/>
            </a:avLst>
          </a:prstGeom>
          <a:solidFill>
            <a:srgbClr val="FDF2F3"/>
          </a:solidFill>
          <a:ln w="12700">
            <a:solidFill>
              <a:srgbClr val="E2E4EE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229807" y="5100066"/>
            <a:ext cx="5157216" cy="889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2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🔁 부저 다시 ON(더 크게) → 미션부터 재시작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640080" y="6080760"/>
            <a:ext cx="10911535" cy="786384"/>
          </a:xfrm>
          <a:prstGeom prst="roundRect">
            <a:avLst>
              <a:gd name="adj" fmla="val 9302"/>
            </a:avLst>
          </a:prstGeom>
          <a:solidFill>
            <a:srgbClr val="E9F6F1"/>
          </a:solidFill>
          <a:ln w="12700">
            <a:solidFill>
              <a:srgbClr val="9AD8BF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41248" y="6172200"/>
            <a:ext cx="1050919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FA97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체크 주목할 점: </a:t>
            </a:r>
            <a:pPr indent="0" marL="0">
              <a:buNone/>
            </a:pPr>
            <a:r>
              <a:rPr lang="en-US" sz="1250" dirty="0">
                <a:solidFill>
                  <a:srgbClr val="12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테스트할 때마다 40초를 기다리기 번거롭다면? 코드의 두 상수를 잠깐 3초로 낮춰 테스트하고, 실제 시연 전에는 꼭 원래 값으로 되돌리세요.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9260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4E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 / 13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554480" y="256032"/>
            <a:ext cx="2286000" cy="310896"/>
          </a:xfrm>
          <a:prstGeom prst="roundRect">
            <a:avLst>
              <a:gd name="adj" fmla="val 50000"/>
            </a:avLst>
          </a:prstGeom>
          <a:solidFill>
            <a:srgbClr val="E2ECFF"/>
          </a:solidFill>
          <a:ln w="12700">
            <a:solidFill>
              <a:srgbClr val="91B7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554480" y="256032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0B5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MOCK ↔ 실기기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667512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스턴트 대역 배우 — DeviceProvider 패턴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581912"/>
            <a:ext cx="109115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4B4E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대본(백엔드 코드)은 '누가' 연기하는지 몰라요 — 정해진 4개 동작만 똑같이 해내면 됩니다.</a:t>
            </a:r>
            <a:endParaRPr lang="en-US" sz="155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10312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모두가 지키는 4개의 동작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514600"/>
            <a:ext cx="5669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A9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체크  </a:t>
            </a:r>
            <a:pPr indent="0" marL="0">
              <a:buNone/>
            </a:pPr>
            <a:r>
              <a:rPr lang="en-US" sz="1250" dirty="0">
                <a:solidFill>
                  <a:srgbClr val="1213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get_device_status()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880360"/>
            <a:ext cx="5669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A9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체크  </a:t>
            </a:r>
            <a:pPr indent="0" marL="0">
              <a:buNone/>
            </a:pPr>
            <a:r>
              <a:rPr lang="en-US" sz="1250" dirty="0">
                <a:solidFill>
                  <a:srgbClr val="1213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set_actuator_state()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3246120"/>
            <a:ext cx="5669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A9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체크  </a:t>
            </a:r>
            <a:pPr indent="0" marL="0">
              <a:buNone/>
            </a:pPr>
            <a:r>
              <a:rPr lang="en-US" sz="1250" dirty="0">
                <a:solidFill>
                  <a:srgbClr val="1213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read_sensor_value()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3611880"/>
            <a:ext cx="5669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A9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체크  </a:t>
            </a:r>
            <a:pPr indent="0" marL="0">
              <a:buNone/>
            </a:pPr>
            <a:r>
              <a:rPr lang="en-US" sz="1250" dirty="0">
                <a:solidFill>
                  <a:srgbClr val="1213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get_all_statuses()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4114800"/>
            <a:ext cx="56692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2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지금은 MockDeviceProvider(가짜 배우)가 연기 중이에요 — 메모리에서 흉내만 내죠. .env의 DEVICE_MODE=hardware로 바꾸고 backend/iot/hardware_provider.py를 실제 배우로 캐스팅하면, 대본은 한 줄도 안 바꿔도 진짜 하드웨어가 움직입니다.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29400" y="2103120"/>
            <a:ext cx="4922215" cy="2286000"/>
          </a:xfrm>
          <a:prstGeom prst="roundRect">
            <a:avLst>
              <a:gd name="adj" fmla="val 3600"/>
            </a:avLst>
          </a:prstGeom>
          <a:solidFill>
            <a:srgbClr val="10121C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830568" y="2231136"/>
            <a:ext cx="451987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297B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지금 상태 스냅샷 (정직 버전)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6830568" y="2560320"/>
            <a:ext cx="2559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297B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buzzer_1 · touch_pad_1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9287396" y="2615184"/>
            <a:ext cx="2165775" cy="274320"/>
          </a:xfrm>
          <a:prstGeom prst="roundRect">
            <a:avLst>
              <a:gd name="adj" fmla="val 50000"/>
            </a:avLst>
          </a:prstGeom>
          <a:ln w="15875">
            <a:solidFill>
              <a:srgbClr val="C97A0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287396" y="2615184"/>
            <a:ext cx="2165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97A0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Windows Mock 중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6830568" y="3017520"/>
            <a:ext cx="2559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297B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camera_1 (devices 항목)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9287396" y="3072384"/>
            <a:ext cx="2165775" cy="274320"/>
          </a:xfrm>
          <a:prstGeom prst="roundRect">
            <a:avLst>
              <a:gd name="adj" fmla="val 50000"/>
            </a:avLst>
          </a:prstGeom>
          <a:ln w="15875">
            <a:solidFill>
              <a:srgbClr val="C97A0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287396" y="3072384"/>
            <a:ext cx="2165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97A0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Mock 시뮬레이션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6830568" y="3474720"/>
            <a:ext cx="2559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297B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실제 영상인식 판단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9287396" y="3529584"/>
            <a:ext cx="2165775" cy="274320"/>
          </a:xfrm>
          <a:prstGeom prst="roundRect">
            <a:avLst>
              <a:gd name="adj" fmla="val 50000"/>
            </a:avLst>
          </a:prstGeom>
          <a:ln w="15875">
            <a:solidFill>
              <a:srgbClr val="1FA971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287396" y="3529584"/>
            <a:ext cx="2165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A97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진짜 작동 중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6830568" y="3931920"/>
            <a:ext cx="2559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297B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DB · Frontend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9287396" y="3986784"/>
            <a:ext cx="2165775" cy="274320"/>
          </a:xfrm>
          <a:prstGeom prst="roundRect">
            <a:avLst>
              <a:gd name="adj" fmla="val 50000"/>
            </a:avLst>
          </a:prstGeom>
          <a:ln w="15875">
            <a:solidFill>
              <a:srgbClr val="1FA971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9287396" y="3986784"/>
            <a:ext cx="2165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A97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진짜 작동 중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9260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4E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 / 13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554480" y="256032"/>
            <a:ext cx="2286000" cy="310896"/>
          </a:xfrm>
          <a:prstGeom prst="roundRect">
            <a:avLst>
              <a:gd name="adj" fmla="val 50000"/>
            </a:avLst>
          </a:prstGeom>
          <a:solidFill>
            <a:srgbClr val="E2ECFF"/>
          </a:solidFill>
          <a:ln w="12700">
            <a:solidFill>
              <a:srgbClr val="91B7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554480" y="256032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0B5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미션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667512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여러분이 이어받을 4가지 과제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5341468" cy="1691640"/>
          </a:xfrm>
          <a:prstGeom prst="roundRect">
            <a:avLst>
              <a:gd name="adj" fmla="val 4865"/>
            </a:avLst>
          </a:prstGeom>
          <a:solidFill>
            <a:srgbClr val="F7F8FC"/>
          </a:solidFill>
          <a:ln w="12700">
            <a:solidFill>
              <a:srgbClr val="E2E4E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194767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0B5FF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19476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325880" y="1947672"/>
            <a:ext cx="44727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라즈베리파이 5 실기기 전환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2404872"/>
            <a:ext cx="49757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B4E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pi/main.py를 gpiozero로 실제 GPIO 코드로 바꿉니다.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3145536"/>
            <a:ext cx="49757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B4E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부록C · 03 핸드오버 가이드 과제 A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210148" y="1783080"/>
            <a:ext cx="5341468" cy="1691640"/>
          </a:xfrm>
          <a:prstGeom prst="roundRect">
            <a:avLst>
              <a:gd name="adj" fmla="val 4865"/>
            </a:avLst>
          </a:prstGeom>
          <a:solidFill>
            <a:srgbClr val="F7F8FC"/>
          </a:solidFill>
          <a:ln w="12700">
            <a:solidFill>
              <a:srgbClr val="E2E4E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393028" y="194767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0B5FF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393028" y="19476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895948" y="1947672"/>
            <a:ext cx="44727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새 센서/액추에이터 추가</a:t>
            </a:r>
            <a:endParaRPr lang="en-US" sz="1450" dirty="0"/>
          </a:p>
        </p:txBody>
      </p:sp>
      <p:sp>
        <p:nvSpPr>
          <p:cNvPr id="16" name="Text 14"/>
          <p:cNvSpPr txBox="1"/>
          <p:nvPr/>
        </p:nvSpPr>
        <p:spPr>
          <a:xfrm>
            <a:off x="6393028" y="2404872"/>
            <a:ext cx="49757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B4E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예: LED 경보등 — DB 시드, trigger_service, UI까지 함께.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6393028" y="3145536"/>
            <a:ext cx="49757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B4E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핸드오버 가이드 과제 B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40080" y="3703320"/>
            <a:ext cx="5341468" cy="1691640"/>
          </a:xfrm>
          <a:prstGeom prst="roundRect">
            <a:avLst>
              <a:gd name="adj" fmla="val 4865"/>
            </a:avLst>
          </a:prstGeom>
          <a:solidFill>
            <a:srgbClr val="F7F8FC"/>
          </a:solidFill>
          <a:ln w="12700">
            <a:solidFill>
              <a:srgbClr val="E2E4E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22960" y="386791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0B5FF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22960" y="38679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1325880" y="3867912"/>
            <a:ext cx="44727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영상인식 고도화</a:t>
            </a:r>
            <a:endParaRPr lang="en-US" sz="1450" dirty="0"/>
          </a:p>
        </p:txBody>
      </p:sp>
      <p:sp>
        <p:nvSpPr>
          <p:cNvPr id="22" name="Text 20"/>
          <p:cNvSpPr txBox="1"/>
          <p:nvPr/>
        </p:nvSpPr>
        <p:spPr>
          <a:xfrm>
            <a:off x="822960" y="4325112"/>
            <a:ext cx="49757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B4E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가위바위보 손동작, 얼굴/눈 깜빡임 등으로 미션 확장.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822960" y="5065776"/>
            <a:ext cx="49757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B4E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핸드오버 가이드 과제 C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210148" y="3703320"/>
            <a:ext cx="5341468" cy="1691640"/>
          </a:xfrm>
          <a:prstGeom prst="roundRect">
            <a:avLst>
              <a:gd name="adj" fmla="val 4865"/>
            </a:avLst>
          </a:prstGeom>
          <a:solidFill>
            <a:srgbClr val="F7F8FC"/>
          </a:solidFill>
          <a:ln w="12700">
            <a:solidFill>
              <a:srgbClr val="E2E4E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393028" y="386791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0B5FFF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393028" y="38679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6895948" y="3867912"/>
            <a:ext cx="44727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클라우드 배포</a:t>
            </a:r>
            <a:endParaRPr lang="en-US" sz="1450" dirty="0"/>
          </a:p>
        </p:txBody>
      </p:sp>
      <p:sp>
        <p:nvSpPr>
          <p:cNvPr id="28" name="Text 26"/>
          <p:cNvSpPr txBox="1"/>
          <p:nvPr/>
        </p:nvSpPr>
        <p:spPr>
          <a:xfrm>
            <a:off x="6393028" y="4325112"/>
            <a:ext cx="49757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B4E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Supabase + Render + Vercel 배포.</a:t>
            </a:r>
            <a:endParaRPr lang="en-US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6393028" y="5065776"/>
            <a:ext cx="49757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B4E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핸드오버 가이드 과제 D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40080" y="5486400"/>
            <a:ext cx="10911535" cy="786384"/>
          </a:xfrm>
          <a:prstGeom prst="roundRect">
            <a:avLst>
              <a:gd name="adj" fmla="val 9302"/>
            </a:avLst>
          </a:prstGeom>
          <a:solidFill>
            <a:srgbClr val="E9F6F1"/>
          </a:solidFill>
          <a:ln w="12700">
            <a:solidFill>
              <a:srgbClr val="9AD8BF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41248" y="5577840"/>
            <a:ext cx="1050919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FA97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체크 주목할 점: </a:t>
            </a:r>
            <a:pPr indent="0" marL="0">
              <a:buNone/>
            </a:pPr>
            <a:r>
              <a:rPr lang="en-US" sz="1250" dirty="0">
                <a:solidFill>
                  <a:srgbClr val="12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새 AI 채팅을 열 때마다 docs/03-2차개발-생성형AI-핸드오버-가이드.md의 '시스템 프롬프트'부터 붙여넣으세요.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9260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4E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 / 13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554480" y="256032"/>
            <a:ext cx="2286000" cy="310896"/>
          </a:xfrm>
          <a:prstGeom prst="roundRect">
            <a:avLst>
              <a:gd name="adj" fmla="val 50000"/>
            </a:avLst>
          </a:prstGeom>
          <a:solidFill>
            <a:srgbClr val="E2ECFF"/>
          </a:solidFill>
          <a:ln w="12700">
            <a:solidFill>
              <a:srgbClr val="91B7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554480" y="256032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0B5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행선지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667512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막히면, 여기부터</a:t>
            </a:r>
            <a:endParaRPr lang="en-US" sz="28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83080"/>
          <a:ext cx="10911535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377440"/>
                <a:gridCol w="1645920"/>
                <a:gridCol w="5059375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역할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5C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먼저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5C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필수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5C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필요할 때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5CF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팀 전원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부록G 슬라이드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01, 02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부록A, 부록B, 부록F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백엔드 · DB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부록G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01, 02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부록C, 부록D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프론트엔드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부록G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01, 02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부록C(3·7장)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라즈베리파이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부록G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01, 02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부록E → 부록C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영상인식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부록G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01, 02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—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640080" y="4361688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B4E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확인한 것 — 5개 부품, 하나의 대화 규칙(REST + JSON), 그리고 되풀이되는 하나의 아침 여정. 이제 코드를 열어보세요.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3581248" y="5897880"/>
            <a:ext cx="640080" cy="640080"/>
          </a:xfrm>
          <a:prstGeom prst="ellipse">
            <a:avLst/>
          </a:prstGeom>
          <a:solidFill>
            <a:srgbClr val="2F86EB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3581248" y="5897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🖥</a:t>
            </a:r>
            <a:endParaRPr lang="en-US" sz="2600" dirty="0"/>
          </a:p>
        </p:txBody>
      </p:sp>
      <p:sp>
        <p:nvSpPr>
          <p:cNvPr id="10" name="Shape 7"/>
          <p:cNvSpPr/>
          <p:nvPr/>
        </p:nvSpPr>
        <p:spPr>
          <a:xfrm>
            <a:off x="4678528" y="5897880"/>
            <a:ext cx="640080" cy="64008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4678528" y="5897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🧠</a:t>
            </a:r>
            <a:endParaRPr lang="en-US" sz="2600" dirty="0"/>
          </a:p>
        </p:txBody>
      </p:sp>
      <p:sp>
        <p:nvSpPr>
          <p:cNvPr id="12" name="Shape 9"/>
          <p:cNvSpPr/>
          <p:nvPr/>
        </p:nvSpPr>
        <p:spPr>
          <a:xfrm>
            <a:off x="5775808" y="5897880"/>
            <a:ext cx="640080" cy="640080"/>
          </a:xfrm>
          <a:prstGeom prst="ellipse">
            <a:avLst/>
          </a:prstGeom>
          <a:solidFill>
            <a:srgbClr val="0F9E8E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5775808" y="5897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📓</a:t>
            </a:r>
            <a:endParaRPr lang="en-US" sz="2600" dirty="0"/>
          </a:p>
        </p:txBody>
      </p:sp>
      <p:sp>
        <p:nvSpPr>
          <p:cNvPr id="14" name="Shape 11"/>
          <p:cNvSpPr/>
          <p:nvPr/>
        </p:nvSpPr>
        <p:spPr>
          <a:xfrm>
            <a:off x="6873088" y="5897880"/>
            <a:ext cx="640080" cy="640080"/>
          </a:xfrm>
          <a:prstGeom prst="ellipse">
            <a:avLst/>
          </a:prstGeom>
          <a:solidFill>
            <a:srgbClr val="DB8A1D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6873088" y="5897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👁</a:t>
            </a:r>
            <a:endParaRPr lang="en-US" sz="2600" dirty="0"/>
          </a:p>
        </p:txBody>
      </p:sp>
      <p:sp>
        <p:nvSpPr>
          <p:cNvPr id="16" name="Shape 13"/>
          <p:cNvSpPr/>
          <p:nvPr/>
        </p:nvSpPr>
        <p:spPr>
          <a:xfrm>
            <a:off x="7970368" y="5897880"/>
            <a:ext cx="640080" cy="640080"/>
          </a:xfrm>
          <a:prstGeom prst="ellipse">
            <a:avLst/>
          </a:prstGeom>
          <a:solidFill>
            <a:srgbClr val="E0576B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7970368" y="5897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⚡</a:t>
            </a:r>
            <a:endParaRPr lang="en-US" sz="2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2026-09-05T23:31:19Z</dcterms:created>
  <dcterms:modified xsi:type="dcterms:W3CDTF">2026-09-05T23:31:19Z</dcterms:modified>
</cp:coreProperties>
</file>